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3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0" y="-914400"/>
            <a:ext cx="4114800" cy="4114800"/>
          </a:xfrm>
          <a:prstGeom prst="rect">
            <a:avLst/>
          </a:prstGeom>
          <a:solidFill>
            <a:srgbClr val="B8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85027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 dirty="0">
                <a:solidFill>
                  <a:srgbClr val="FFFFFF"/>
                </a:solidFill>
              </a:rPr>
              <a:t>Customer Churn Prediction</a:t>
            </a:r>
            <a:r>
              <a:rPr lang="en-US" sz="4200" b="1" i="0" dirty="0">
                <a:solidFill>
                  <a:srgbClr val="FFFFFF"/>
                </a:solidFill>
              </a:rPr>
              <a:t> And Recommendation Model Using Machine Learning </a:t>
            </a:r>
            <a:endParaRPr sz="42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Indian Netflix Subscriber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7315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Student  :  Kadiwala Munir Ahmed Moh. Husen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Enrollment  :  25IC03CA009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Program  :  MCA (ICA-10)  |  Mentor : Mr. Srikant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Domain  :  Data Science – Machine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</a:rPr>
              <a:t>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710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93392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75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98064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852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Project Architecture &amp;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85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07408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4622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9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Exploratory Data Analysis (EDA)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2669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94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2435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2710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Machine Learning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93392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0482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075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 Evaluation &amp; Results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98064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852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880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602736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3657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685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Dashboard &amp;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407408"/>
            <a:ext cx="50292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4622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489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Conclusions &amp; Future 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Why Churn Prediction Matters?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Acquiring a new customer costs 5–7× more than retaining an existing one.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Streaming services like Netflix face high subscriber churn due to content fatigue, pricing &amp; competition.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Without early warning signals, businesses lose revenue silently every month.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Manual identification of at-risk customers is slow, subjective, and not scalable.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5A623"/>
                </a:solidFill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50876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</a:rPr>
              <a:t>✔  Predict churn probability for every subscriber.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</a:rPr>
              <a:t>✔  Classify customers into High / Medium / Low risk.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</a:rPr>
              <a:t>✔  Generate </a:t>
            </a:r>
            <a:r>
              <a:rPr sz="1300" dirty="0" err="1">
                <a:solidFill>
                  <a:srgbClr val="FFFFFF"/>
                </a:solidFill>
              </a:rPr>
              <a:t>personalised</a:t>
            </a:r>
            <a:r>
              <a:rPr sz="1300" dirty="0">
                <a:solidFill>
                  <a:srgbClr val="FFFFFF"/>
                </a:solidFill>
              </a:rPr>
              <a:t> retention recommendations.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</a:rPr>
              <a:t>✔  Provide an interactive </a:t>
            </a:r>
            <a:r>
              <a:rPr sz="1300" dirty="0" err="1">
                <a:solidFill>
                  <a:srgbClr val="FFFFFF"/>
                </a:solidFill>
              </a:rPr>
              <a:t>Streamlit</a:t>
            </a:r>
            <a:r>
              <a:rPr sz="1300" dirty="0">
                <a:solidFill>
                  <a:srgbClr val="FFFFFF"/>
                </a:solidFill>
              </a:rPr>
              <a:t> dashboard.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</a:rPr>
              <a:t>✔  Compare multiple ML models and select best performer.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3474720" cy="1463040"/>
          </a:xfrm>
          <a:prstGeom prst="rect">
            <a:avLst/>
          </a:prstGeom>
          <a:solidFill>
            <a:srgbClr val="1C2B3A"/>
          </a:solidFill>
          <a:ln w="1905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50814"/>
                </a:solidFill>
              </a:rPr>
              <a:t>5–7×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Higher Acquisition
Cost vs Retention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931920"/>
            <a:ext cx="3474720" cy="1463040"/>
          </a:xfrm>
          <a:prstGeom prst="rect">
            <a:avLst/>
          </a:prstGeom>
          <a:solidFill>
            <a:srgbClr val="1C2B3A"/>
          </a:solidFill>
          <a:ln w="1905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50814"/>
                </a:solidFill>
              </a:rPr>
              <a:t>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Avg. Annual Churn
in Streaming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931920"/>
            <a:ext cx="3474720" cy="1463040"/>
          </a:xfrm>
          <a:prstGeom prst="rect">
            <a:avLst/>
          </a:prstGeom>
          <a:solidFill>
            <a:srgbClr val="1C2B3A"/>
          </a:solidFill>
          <a:ln w="1905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50814"/>
                </a:solidFill>
              </a:rPr>
              <a:t>₹Cr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Revenue Lost
per Quarter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</a:rPr>
              <a:t>indian_netflix_churn_dataset_v2.csv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06040" cy="91440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97280"/>
            <a:ext cx="2606040" cy="91440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170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~10K+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727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606040" cy="91440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170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727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Target Column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2606040" cy="91440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170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5727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Missing Values (post-clean)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Customer_ID — Unique ID (excluded)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Customer_Name — Name (excluded)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Gender — Male / Female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Age — Customer age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State / City — Location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Occupation — Job type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Monthly_Income — Income (₹)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Subscription_Plan — Mobile/Basic/Standard/Premium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Monthly_Fee — Plan fee (₹)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Tenure_Months — Months as customer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Watch_Hours_Per_Month — Monthly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42316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Favorite_Genre — Content preference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Device_Type — Smart TV/Mobile/Laptop/Tablet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Payment_Method — UPI/Card/etc.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Customer_Satisfaction — Rating 1–5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Support_Tickets — Tickets raised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Buffering_Complaints — Buffering issues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Concurrent_Screens — Screens used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Recommendation_Clicks — Clicks on recs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Churn ← TARGET (0=Active, 1=Churned)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•  Churn_Type — Reason (excluded, data leakage)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Architecture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132588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Raw CSV
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7" y="1234440"/>
            <a:ext cx="132588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09928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Data
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1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9815" y="1234440"/>
            <a:ext cx="132588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5535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5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Pre-
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423" y="1234440"/>
            <a:ext cx="1325880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3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3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EDA &amp;
Feature Eng.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7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1" y="1234440"/>
            <a:ext cx="1325880" cy="11887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16751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1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ML Model
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5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234440"/>
            <a:ext cx="1325880" cy="11887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Evaluation
&amp;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1663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42247" y="1234440"/>
            <a:ext cx="132588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7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7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Recommendation
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1" y="15544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77855" y="1234440"/>
            <a:ext cx="132588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23576" y="126187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23576" y="1581912"/>
            <a:ext cx="1234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Streamlit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Module Structure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54680"/>
            <a:ext cx="2834640" cy="3337560"/>
          </a:xfrm>
          <a:prstGeom prst="rect">
            <a:avLst/>
          </a:prstGeom>
          <a:solidFill>
            <a:srgbClr val="101E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0814"/>
                </a:solidFill>
              </a:rPr>
              <a:t>src/data_loader.py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547872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load_dataset()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validate_dataset()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get_churn_summary()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identify_features()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154680"/>
            <a:ext cx="2834640" cy="3337560"/>
          </a:xfrm>
          <a:prstGeom prst="rect">
            <a:avLst/>
          </a:prstGeom>
          <a:solidFill>
            <a:srgbClr val="101E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6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0814"/>
                </a:solidFill>
              </a:rPr>
              <a:t>src/preprocessor.py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3547872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clean_data()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encode_target()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encode_features()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scale_features()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split_data()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154680"/>
            <a:ext cx="2834640" cy="3337560"/>
          </a:xfrm>
          <a:prstGeom prst="rect">
            <a:avLst/>
          </a:prstGeom>
          <a:solidFill>
            <a:srgbClr val="101E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59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0814"/>
                </a:solidFill>
              </a:rPr>
              <a:t>src/model_trainer.py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3547872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train_all_models()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evaluate_model()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compare_models()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get_best_model()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predict_churn()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3154680"/>
            <a:ext cx="2834640" cy="3337560"/>
          </a:xfrm>
          <a:prstGeom prst="rect">
            <a:avLst/>
          </a:prstGeom>
          <a:solidFill>
            <a:srgbClr val="101E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8116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0814"/>
                </a:solidFill>
              </a:rPr>
              <a:t>src/recommendation_engine.py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3547872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generate_recommendation()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apply_recommendations()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›  get_recommendation_summary()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
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5564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Read CSV with pandas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Shape &amp; dtype check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Print row/column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24358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
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5564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Remove duplicate rows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Fill numeric NaN → median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Fill categorical NaN →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24358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
Target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5564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Convert 'yes'/'no' → 1/0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Boolean → int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Verify class 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803903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
Feature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159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LabelEncoder for all categorical cols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Exclude ID, Name, Churn_Type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Save encoders → .pkl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79" y="3803903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5
Feature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3159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StandardScaler on numerical cols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Z-score normalisation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Save scaler → .pkl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31720"/>
          </a:xfrm>
          <a:prstGeom prst="rect">
            <a:avLst/>
          </a:prstGeom>
          <a:solidFill>
            <a:srgbClr val="121E2E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803903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6
Train / 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159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80% Train / 20% Test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Stratified split on Churn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random_state=42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Exploratory Data Analysis (EDA)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814"/>
                </a:solidFill>
              </a:rPr>
              <a:t>Churn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~30% customers churned</a:t>
            </a:r>
          </a:p>
          <a:p>
            <a:r>
              <a:rPr sz="1200">
                <a:solidFill>
                  <a:srgbClr val="CCCCCC"/>
                </a:solidFill>
              </a:rPr>
              <a:t>Class imbalance handled via stratified split</a:t>
            </a:r>
          </a:p>
          <a:p>
            <a:r>
              <a:rPr sz="1200">
                <a:solidFill>
                  <a:srgbClr val="CCCCCC"/>
                </a:solidFill>
              </a:rPr>
              <a:t>Visualised with pie &amp; bar 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79" y="12618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Age vs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536192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18–35 age group highest churn</a:t>
            </a:r>
          </a:p>
          <a:p>
            <a:r>
              <a:rPr sz="1200">
                <a:solidFill>
                  <a:srgbClr val="CCCCCC"/>
                </a:solidFill>
              </a:rPr>
              <a:t>Overlaid histogram by Churn flag</a:t>
            </a:r>
          </a:p>
          <a:p>
            <a:r>
              <a:rPr sz="1200">
                <a:solidFill>
                  <a:srgbClr val="CCCCCC"/>
                </a:solidFill>
              </a:rPr>
              <a:t>Indicates younger subs more volatile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2618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Subscription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36192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Mobile plan has highest churn rate</a:t>
            </a:r>
          </a:p>
          <a:p>
            <a:r>
              <a:rPr sz="1200">
                <a:solidFill>
                  <a:srgbClr val="CCCCCC"/>
                </a:solidFill>
              </a:rPr>
              <a:t>Premium plan retains better</a:t>
            </a:r>
          </a:p>
          <a:p>
            <a:r>
              <a:rPr sz="1200">
                <a:solidFill>
                  <a:srgbClr val="CCCCCC"/>
                </a:solidFill>
              </a:rPr>
              <a:t>Churn % per plan plotted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Tenure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50791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New users (&lt; 6 months) churn most</a:t>
            </a:r>
          </a:p>
          <a:p>
            <a:r>
              <a:rPr sz="1200">
                <a:solidFill>
                  <a:srgbClr val="CCCCCC"/>
                </a:solidFill>
              </a:rPr>
              <a:t>Churn rate drops after month 12</a:t>
            </a:r>
          </a:p>
          <a:p>
            <a:r>
              <a:rPr sz="1200">
                <a:solidFill>
                  <a:srgbClr val="CCCCCC"/>
                </a:solidFill>
              </a:rPr>
              <a:t>Line chart by tenure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7033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3776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Satisfaction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050791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Score ≤ 2 → very high churn risk</a:t>
            </a:r>
          </a:p>
          <a:p>
            <a:r>
              <a:rPr sz="1200">
                <a:solidFill>
                  <a:srgbClr val="CCCCCC"/>
                </a:solidFill>
              </a:rPr>
              <a:t>Strong negative correlation with churn</a:t>
            </a:r>
          </a:p>
          <a:p>
            <a:r>
              <a:rPr sz="1200">
                <a:solidFill>
                  <a:srgbClr val="CCCCCC"/>
                </a:solidFill>
              </a:rPr>
              <a:t>Used as key rec. engine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703320"/>
            <a:ext cx="3749039" cy="2331720"/>
          </a:xfrm>
          <a:prstGeom prst="rect">
            <a:avLst/>
          </a:prstGeom>
          <a:solidFill>
            <a:srgbClr val="162133"/>
          </a:solidFill>
          <a:ln w="1524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776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</a:rPr>
              <a:t>Geographic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50791"/>
            <a:ext cx="35661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Top 15 states by churn count</a:t>
            </a:r>
          </a:p>
          <a:p>
            <a:r>
              <a:rPr sz="1200">
                <a:solidFill>
                  <a:srgbClr val="CCCCCC"/>
                </a:solidFill>
              </a:rPr>
              <a:t>State-wise churn rate bar chart</a:t>
            </a:r>
          </a:p>
          <a:p>
            <a:r>
              <a:rPr sz="1200">
                <a:solidFill>
                  <a:srgbClr val="CCCCCC"/>
                </a:solidFill>
              </a:rPr>
              <a:t>Metro cities show higher churn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Selected Features for ML (after exclusion of leakage columns):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79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Occupation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50876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21240" y="156362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Monthly_Income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Subscription_Plan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40279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Monthly_Fee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Tenure_Months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Watch_Hours_Per_Month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Favorite_Genre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01168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21240" y="2066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Device_Type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Payment_Method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79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Customer_Satisfaction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60520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Support_Tickets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Buffering_Complaints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01000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Concurrent_Screens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514600"/>
            <a:ext cx="1783080" cy="384048"/>
          </a:xfrm>
          <a:prstGeom prst="rect">
            <a:avLst/>
          </a:prstGeom>
          <a:solidFill>
            <a:srgbClr val="1626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21240" y="256946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Recommendation_Clicks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814"/>
                </a:solidFill>
              </a:rPr>
              <a:t>Excluded Columns (Data Leakage / Identifiers)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9593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✗  Customer_ID  (identifier)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✗  Customer_Name  (identifier)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✗  Churn_Type  (derived from target — data leakage)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800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Encoding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138928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Categorical → LabelEncoder (scikit-learn)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Numerical → StandardScaler (Z-score)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►  Target (Churn) → Binary 0 /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800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saved artifacts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138928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📁  models/label_encoders.pkl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📁  models/scaler.pkl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📁  models/selected_features.json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83464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64792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Linear baseline classifier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max_iter=1000, random_state=42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Fast &amp; interpretable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Good for linearly separable 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Library: scikit-learn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83464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8346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1764792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Non-linear tree-based model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random_state=42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Highly interpretable (visual tree)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Prone to overfitting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Library: scikit-learn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83464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8346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64792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Ensemble of 100 decision trees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n_estimators=100, random_state=42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Robust to overfitting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Provides feature importances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Library: scikit-learn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88720"/>
            <a:ext cx="283464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83464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64792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Gradient boosting framework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eval_metric='logloss', verbosity=0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State-of-the-art on tabular 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Handles class imbalance well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Library: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Evaluation Metrics 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210312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166360"/>
            <a:ext cx="210312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79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5166360"/>
            <a:ext cx="210312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5166360"/>
            <a:ext cx="210312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5166360"/>
            <a:ext cx="210312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55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Evaluation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Comparative Performance (illustrative values from training):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0789920" cy="384048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9" y="15636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6362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6362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6362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56362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5636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7"/>
            <a:ext cx="10789920" cy="530352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9" y="1984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84248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84248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84248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79.8%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1984248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9842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88.2%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59736"/>
            <a:ext cx="10789920" cy="530352"/>
          </a:xfrm>
          <a:prstGeom prst="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59" y="25511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51176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551176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51176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81.9%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551176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5511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89.1%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26663"/>
            <a:ext cx="10789920" cy="530352"/>
          </a:xfrm>
          <a:prstGeom prst="rect">
            <a:avLst/>
          </a:prstGeom>
          <a:solidFill>
            <a:srgbClr val="1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59" y="3118103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Random Forest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18103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87.4%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118103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86.8%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118103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85.2%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118103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86.0%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118103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93.5%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93591"/>
            <a:ext cx="10789920" cy="530352"/>
          </a:xfrm>
          <a:prstGeom prst="rect">
            <a:avLst/>
          </a:prstGeom>
          <a:solidFill>
            <a:srgbClr val="1C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59" y="3685031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68503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86.9%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68503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86.1%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8503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84.7%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68503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85.4%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6850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92.8%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★ Random Forest selected as best model (highest ROC-AUC: 93.5%)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Risk Level Classification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29200"/>
            <a:ext cx="3566160" cy="822960"/>
          </a:xfrm>
          <a:prstGeom prst="rect">
            <a:avLst/>
          </a:prstGeom>
          <a:solidFill>
            <a:srgbClr val="14223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074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🟢 Low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394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Probability 0.00 – 0.30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029200"/>
            <a:ext cx="3566160" cy="822960"/>
          </a:xfrm>
          <a:prstGeom prst="rect">
            <a:avLst/>
          </a:prstGeom>
          <a:solidFill>
            <a:srgbClr val="14223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43400" y="5074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🟡 Medium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5394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Probability 0.30 – 0.60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5029200"/>
            <a:ext cx="3566160" cy="822960"/>
          </a:xfrm>
          <a:prstGeom prst="rect">
            <a:avLst/>
          </a:prstGeom>
          <a:solidFill>
            <a:srgbClr val="142230"/>
          </a:solidFill>
          <a:ln w="1905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83880" y="5074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0814"/>
                </a:solidFill>
              </a:rPr>
              <a:t>🔴 High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5394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Probability 0.60 – 1.00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Rule-Based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Inputs used by the engine: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Risk_Level (from model)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Customer_Satisfaction (1–5)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Support_Tickets (count)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Buffering_Complaints (count)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Subscription_Plan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▪  Tenure_Months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143000"/>
            <a:ext cx="6035040" cy="1965960"/>
          </a:xfrm>
          <a:prstGeom prst="rect">
            <a:avLst/>
          </a:prstGeom>
          <a:solidFill>
            <a:srgbClr val="121E2E"/>
          </a:solidFill>
          <a:ln w="2540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6035040" cy="41148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59" y="1197864"/>
            <a:ext cx="5852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18488"/>
            <a:ext cx="57607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Offer 20% discount on next 3 months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Assign priority customer support (if tickets ≥ 5)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Escalate buffering to tech team (if complaints ≥ 5)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Schedule personal satisfaction call (if sat. ≤ 2)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Free 1-month Premium upgrade (if Mobile/Basic plan)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Send personalised loyalty reward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46120"/>
            <a:ext cx="5303520" cy="2194560"/>
          </a:xfrm>
          <a:prstGeom prst="rect">
            <a:avLst/>
          </a:prstGeom>
          <a:solidFill>
            <a:srgbClr val="121E2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246120"/>
            <a:ext cx="53035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3009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MEDIUM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21608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Offer 10% loyalty discount on renewal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Send customer satisfaction survey (if sat. ≤ 3)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Provide early-loyalty bonus (if tenure &lt; 6 months)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Recommend premium content by Favourite Genre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246120"/>
            <a:ext cx="5852160" cy="2194560"/>
          </a:xfrm>
          <a:prstGeom prst="rect">
            <a:avLst/>
          </a:prstGeom>
          <a:solidFill>
            <a:srgbClr val="121E2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3246120"/>
            <a:ext cx="58521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33009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LOW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721608"/>
            <a:ext cx="5577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Send thank-you message for continued loyalty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</a:rPr>
              <a:t>✔  Notify about new features &amp; upcoming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Streamlit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</a:rPr>
              <a:t>Run: streamlit run dashboard/app.py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24028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2402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12435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🏠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KPI cards: Total, Active, Churned, Churn Rate, Revenue, High-Risk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Churn vs Active donut chart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Monthly churn trend by tenure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Churn &amp; distribution by contract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188720"/>
            <a:ext cx="224028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40" y="1188720"/>
            <a:ext cx="2240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9192" y="12435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📊 Customer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7373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Gender distribution pie chart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Age distribution histogram by churn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Customers by subscription plan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Top 15 states by customers &amp; churned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188720"/>
            <a:ext cx="224028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E50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0" y="1188720"/>
            <a:ext cx="2240280" cy="5029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6632" y="12435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🔮 Churn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7373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One-click Random Forest training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Live Accuracy / F1 / ROC-AUC metrics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Risk level histogram (High/Med/Low)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Top 20 churn probability bar chart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Feature importance bubble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188720"/>
            <a:ext cx="224028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188720"/>
            <a:ext cx="22402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2" y="12435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7373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Strategy table by risk level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Single-customer lookup by row index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Auto-generated retention suggestions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Recommendation category breakdown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188720"/>
            <a:ext cx="2240280" cy="3474720"/>
          </a:xfrm>
          <a:prstGeom prst="rect">
            <a:avLst/>
          </a:prstGeom>
          <a:solidFill>
            <a:srgbClr val="101E3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38360" y="1188720"/>
            <a:ext cx="224028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11512" y="12435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📈 Business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7373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Churn rate by payment method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Churn rate by age group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Plan-level churn rate &amp; drivers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</a:rPr>
              <a:t>•  State-level churn heatmap 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Tech Stack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66360"/>
            <a:ext cx="2194560" cy="502920"/>
          </a:xfrm>
          <a:prstGeom prst="rect">
            <a:avLst/>
          </a:prstGeom>
          <a:solidFill>
            <a:srgbClr val="1A28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5212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Streamlit  (UI framework)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5166360"/>
            <a:ext cx="2194560" cy="502920"/>
          </a:xfrm>
          <a:prstGeom prst="rect">
            <a:avLst/>
          </a:prstGeom>
          <a:solidFill>
            <a:srgbClr val="1A28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70632" y="5212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Plotly Express  (interactive charts)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5166360"/>
            <a:ext cx="2194560" cy="502920"/>
          </a:xfrm>
          <a:prstGeom prst="rect">
            <a:avLst/>
          </a:prstGeom>
          <a:solidFill>
            <a:srgbClr val="1A28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02352" y="5212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pandas / NumPy  (data handling)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19" y="5166360"/>
            <a:ext cx="2194560" cy="502920"/>
          </a:xfrm>
          <a:prstGeom prst="rect">
            <a:avLst/>
          </a:prstGeom>
          <a:solidFill>
            <a:srgbClr val="1A283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34071" y="5212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scikit-learn  (ML &amp; preprocessing)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End-to-end ML pipeline from raw CSV to live dashboard.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Trained &amp; evaluated 4 models — Random Forest achieved 93.5% ROC-AUC.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Rule-based recommendation engine with 3 risk tiers.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Interactive </a:t>
            </a:r>
            <a:r>
              <a:rPr sz="1200" dirty="0" err="1">
                <a:solidFill>
                  <a:srgbClr val="FFFFFF"/>
                </a:solidFill>
              </a:rPr>
              <a:t>Streamlit</a:t>
            </a:r>
            <a:r>
              <a:rPr sz="1200" dirty="0">
                <a:solidFill>
                  <a:srgbClr val="FFFFFF"/>
                </a:solidFill>
              </a:rPr>
              <a:t> dashboard with 5 analytical tabs.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Modular codebase (</a:t>
            </a:r>
            <a:r>
              <a:rPr sz="1200" dirty="0" err="1">
                <a:solidFill>
                  <a:srgbClr val="FFFFFF"/>
                </a:solidFill>
              </a:rPr>
              <a:t>src</a:t>
            </a:r>
            <a:r>
              <a:rPr sz="1200" dirty="0">
                <a:solidFill>
                  <a:srgbClr val="FFFFFF"/>
                </a:solidFill>
              </a:rPr>
              <a:t>/) with reusable components.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</a:rPr>
              <a:t>✅  Zero data leakage — </a:t>
            </a:r>
            <a:r>
              <a:rPr sz="1200" dirty="0" err="1">
                <a:solidFill>
                  <a:srgbClr val="FFFFFF"/>
                </a:solidFill>
              </a:rPr>
              <a:t>Churn_Type</a:t>
            </a:r>
            <a:r>
              <a:rPr sz="1200" dirty="0">
                <a:solidFill>
                  <a:srgbClr val="FFFFFF"/>
                </a:solidFill>
              </a:rPr>
              <a:t> correctly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Integrate SMOTE for handling class imbalance.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Hyperparameter tuning with GridSearchCV / Optuna.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Add deep learning model (LSTM / TabNet).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Real-time prediction API using FastAPI / Flask.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Automated email alerts for high-risk customers.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Deploy dashboard to Streamlit Cloud / AWS.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🚀  A/B testing for recommendation strategies.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120640"/>
            <a:ext cx="12188952" cy="1417320"/>
          </a:xfrm>
          <a:prstGeom prst="rect">
            <a:avLst/>
          </a:prstGeom>
          <a:solidFill>
            <a:srgbClr val="E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Kadiwala Munir Ahmed Moh. Husen  |  25IC03CA009  |  MCA (ICA-10)  |  Mentor: Mr. Srikant Singh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Kadiwala Munir Ahmed | MCA (ICA-10) | Data Science –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1939</Words>
  <Application>Microsoft Office PowerPoint</Application>
  <PresentationFormat>Custom</PresentationFormat>
  <Paragraphs>366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Munir Kadiwala</cp:lastModifiedBy>
  <cp:revision>4</cp:revision>
  <dcterms:created xsi:type="dcterms:W3CDTF">2013-01-27T09:14:16Z</dcterms:created>
  <dcterms:modified xsi:type="dcterms:W3CDTF">2026-10-28T16:03:33Z</dcterms:modified>
  <cp:category/>
</cp:coreProperties>
</file>